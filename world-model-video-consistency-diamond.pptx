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6015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600" b="1" i="0">
                <a:solidFill>
                  <a:srgbClr val="1F497D"/>
                </a:solidFill>
                <a:latin typeface="Calibri"/>
              </a:rPr>
              <a:t>World Models and Video 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0" i="0">
                <a:solidFill>
                  <a:srgbClr val="595959"/>
                </a:solidFill>
                <a:latin typeface="Calibri"/>
              </a:rPr>
              <a:t>Diffusion for World Modeling: Visual Details Matter in Atari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10128"/>
            <a:ext cx="1036015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1">
                <a:solidFill>
                  <a:srgbClr val="ED7D31"/>
                </a:solidFill>
                <a:latin typeface="Calibri"/>
              </a:rPr>
              <a:t>Alonso, Jelley, Micheli, Kanervisto, Storkey, Pearce, Fleuret — NeurIPS 2024 (arXiv:2405.12399)</a:t>
            </a:r>
          </a:p>
        </p:txBody>
      </p:sp>
      <p:sp>
        <p:nvSpPr>
          <p:cNvPr id="7" name="Rectangle 6"/>
          <p:cNvSpPr/>
          <p:nvPr/>
        </p:nvSpPr>
        <p:spPr>
          <a:xfrm>
            <a:off x="4956048" y="3977639"/>
            <a:ext cx="2286000" cy="2794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24528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1A1A1A"/>
                </a:solidFill>
                <a:latin typeface="Calibri"/>
              </a:rPr>
              <a:t>A technical presentation on the DIAMOND world model</a:t>
            </a:r>
          </a:p>
        </p:txBody>
      </p:sp>
      <p:pic>
        <p:nvPicPr>
          <p:cNvPr id="9" name="Picture 8" descr="fig3_dd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4892040"/>
            <a:ext cx="2194560" cy="1305017"/>
          </a:xfrm>
          <a:prstGeom prst="rect">
            <a:avLst/>
          </a:prstGeom>
        </p:spPr>
      </p:pic>
      <p:pic>
        <p:nvPicPr>
          <p:cNvPr id="10" name="Picture 9" descr="fig3_e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4892040"/>
            <a:ext cx="2194560" cy="12771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80360" y="57790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0504D"/>
                </a:solidFill>
                <a:latin typeface="Calibri"/>
              </a:rPr>
              <a:t>DDPM — drifting, colors corrupt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5779008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A9B3C"/>
                </a:solidFill>
                <a:latin typeface="Calibri"/>
              </a:rPr>
              <a:t>EDM (DIAMOND) —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5120640"/>
            <a:ext cx="3566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Diffusion world models keep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the visual details consistent —</a:t>
            </a:r>
          </a:p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and that consistency wins games.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Motivation: Two Problems, One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1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51560"/>
            <a:ext cx="5486400" cy="233172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070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497D"/>
                </a:solidFill>
                <a:latin typeface="Calibri"/>
              </a:rPr>
              <a:t>Problem 1 — RL is sample-hungry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Classic Atari agents: ~50M environment steps to master a game.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World models: learn dynamics from data, then train the agent "in imagination" — 100k steps (~2 h) instead.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World model = simulated video of the environment; agent never touches the real env during training.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5486400" cy="233172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0700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497D"/>
                </a:solidFill>
                <a:latin typeface="Calibri"/>
              </a:rPr>
              <a:t>Problem 2 — discrete latents lose visual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SOTA world models (IRIS, DreamerV3, STORM) encode images as discrete tokens (VQ-VAE + transformer).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Quantization discards fine-grained, few-pixel details — enemies flicker, rewards vanish, scores drift.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00" b="1">
                <a:solidFill>
                  <a:srgbClr val="ED7D31"/>
                </a:solidFill>
                <a:latin typeface="Calibri"/>
              </a:rPr>
              <a:t>▸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Small visual errors compound over rollout → inconsistent "video" → suboptimal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03320"/>
            <a:ext cx="11247120" cy="26060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F497D"/>
                </a:solidFill>
                <a:latin typeface="Calibri"/>
              </a:rPr>
              <a:t>The bridge: diffusion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15968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50" b="1">
                <a:solidFill>
                  <a:srgbClr val="ED7D31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Diffusion models dominate image generation —</a:t>
            </a:r>
            <a:r>
              <a:rPr sz="1550" b="1" i="0">
                <a:solidFill>
                  <a:srgbClr val="1A1A1A"/>
                </a:solidFill>
                <a:latin typeface="Calibri"/>
              </a:rPr>
              <a:t> they synthesize images in a continuous latent space, with no quantization bottleneck.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50" b="1">
                <a:solidFill>
                  <a:srgbClr val="ED7D31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Question: </a:t>
            </a:r>
            <a:r>
              <a:rPr sz="1550" b="1" i="0">
                <a:solidFill>
                  <a:srgbClr val="1F497D"/>
                </a:solidFill>
                <a:latin typeface="Calibri"/>
              </a:rPr>
              <a:t>can a diffusion model serve as the environment simulator of a world model — and does preserving visual details actually make the agent better?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550" b="1">
                <a:solidFill>
                  <a:srgbClr val="ED7D31"/>
                </a:solidFill>
                <a:latin typeface="Calibri"/>
              </a:rPr>
              <a:t>▸ </a:t>
            </a:r>
            <a:r>
              <a:rPr sz="1550" b="0" i="0">
                <a:solidFill>
                  <a:srgbClr val="1A1A1A"/>
                </a:solidFill>
                <a:latin typeface="Calibri"/>
              </a:rPr>
              <a:t>Answer (this paper): </a:t>
            </a:r>
            <a:r>
              <a:rPr sz="1550" b="1" i="0">
                <a:solidFill>
                  <a:srgbClr val="6A9B3C"/>
                </a:solidFill>
                <a:latin typeface="Calibri"/>
              </a:rPr>
              <a:t>yes — DIAMOND, a world-model RL agent with a diffusion dynamics model, sets a new Atari-100k record (mean HNS 1.46).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DIAMOND: A Diffusion Model as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2 / 11</a:t>
            </a:r>
          </a:p>
        </p:txBody>
      </p:sp>
      <p:pic>
        <p:nvPicPr>
          <p:cNvPr id="6" name="Picture 5" descr="fig1_meth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5120640" cy="25664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489204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Figure 1 (paper): unrolling imagination over time. A diffusion model D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θ</a:t>
            </a:r>
            <a:r>
              <a:rPr sz="1100" b="0" i="0">
                <a:solidFill>
                  <a:srgbClr val="595959"/>
                </a:solidFill>
                <a:latin typeface="Calibri"/>
              </a:rPr>
              <a:t> denoises the next frame conditioned on past observations and actions.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1005840"/>
            <a:ext cx="5897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F497D"/>
                </a:solidFill>
                <a:latin typeface="Calibri"/>
              </a:rPr>
              <a:t>The three components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1481328"/>
            <a:ext cx="402336" cy="402336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1499616"/>
            <a:ext cx="402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53896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Calibri"/>
              </a:rPr>
              <a:t>Diffusion world model (EDM)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10512"/>
            <a:ext cx="5349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2D U-Net denoises next frame; past frames concatenated channel-wise; actions injected via adaptive group norm. EDM noise schedule → stable 1–3 step sampling.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80" y="2962656"/>
            <a:ext cx="402336" cy="402336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97880" y="2980944"/>
            <a:ext cx="402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35224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Calibri"/>
              </a:rPr>
              <a:t>Reward / termination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91840"/>
            <a:ext cx="5349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Separate CNN + LSTM (Rψ) predicts scalar reward and episode end — handles partial observability.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4443984"/>
            <a:ext cx="402336" cy="402336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4462272"/>
            <a:ext cx="4023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416552"/>
            <a:ext cx="5349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A1A1A"/>
                </a:solidFill>
                <a:latin typeface="Calibri"/>
              </a:rPr>
              <a:t>Agent (actor-critic)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773168"/>
            <a:ext cx="5349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Shared CNN-LSTM; policy π trained with REINFORCE + value baseline; value trained with λ-returns — entirely inside imagination.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5943600"/>
            <a:ext cx="5897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Training loop: </a:t>
            </a:r>
            <a:r>
              <a:rPr sz="1300" b="0" i="0">
                <a:solidFill>
                  <a:srgbClr val="595959"/>
                </a:solidFill>
                <a:latin typeface="Calibri"/>
              </a:rPr>
              <a:t>collect data in real env → update world model on all data → train agent in imagination → repeat (standard world-model RL recipe).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Design Choice 1: EDM Beats DDPM for Stability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3 / 11</a:t>
            </a:r>
          </a:p>
        </p:txBody>
      </p:sp>
      <p:pic>
        <p:nvPicPr>
          <p:cNvPr id="6" name="Picture 5" descr="fig3_dd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5394960" cy="3208168"/>
          </a:xfrm>
          <a:prstGeom prst="rect">
            <a:avLst/>
          </a:prstGeom>
        </p:spPr>
      </p:pic>
      <p:pic>
        <p:nvPicPr>
          <p:cNvPr id="7" name="Picture 6" descr="fig3_e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051560"/>
            <a:ext cx="5394960" cy="31395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977639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C0504D"/>
                </a:solidFill>
                <a:latin typeface="Calibri"/>
              </a:rPr>
              <a:t>DDPM trajectories — color corrupts, error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977639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6A9B3C"/>
                </a:solidFill>
                <a:latin typeface="Calibri"/>
              </a:rPr>
              <a:t>EDM trajectories — stable even with 1 denoising step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434840"/>
            <a:ext cx="11292840" cy="178308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7899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ED7D31"/>
                </a:solidFill>
                <a:latin typeface="Calibri"/>
              </a:rPr>
              <a:t>▸ </a:t>
            </a:r>
            <a:r>
              <a:rPr sz="1450" b="1" i="0">
                <a:solidFill>
                  <a:srgbClr val="1A1A1A"/>
                </a:solidFill>
                <a:latin typeface="Calibri"/>
              </a:rPr>
              <a:t>Why: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DDPM predicts the noise ε; when noise dominates, this collapses toward the identity map → poor score estimate at the start of sampling → error compounds over rollout.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ED7D31"/>
                </a:solidFill>
                <a:latin typeface="Calibri"/>
              </a:rPr>
              <a:t>▸ </a:t>
            </a:r>
            <a:r>
              <a:rPr sz="1450" b="1" i="0">
                <a:solidFill>
                  <a:srgbClr val="1A1A1A"/>
                </a:solidFill>
                <a:latin typeface="Calibri"/>
              </a:rPr>
              <a:t>EDM instead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adaptively mixes signal and noise: when noise dominates, the net is trained to predict the clean image — a much better score estimate with almost no signal.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ED7D31"/>
                </a:solidFill>
                <a:latin typeface="Calibri"/>
              </a:rPr>
              <a:t>▸ </a:t>
            </a:r>
            <a:r>
              <a:rPr sz="1450" b="1" i="0">
                <a:solidFill>
                  <a:srgbClr val="1A1A1A"/>
                </a:solidFill>
                <a:latin typeface="Calibri"/>
              </a:rPr>
              <a:t>Result: </a:t>
            </a:r>
            <a:r>
              <a:rPr sz="1450" b="1" i="0">
                <a:solidFill>
                  <a:srgbClr val="6A9B3C"/>
                </a:solidFill>
                <a:latin typeface="Calibri"/>
              </a:rPr>
              <a:t>EDM-based world model stays consistent over long rollouts, even at n = 1 denoising 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Design Choice 2: 3 Denoising Steps (Not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4 / 11</a:t>
            </a:r>
          </a:p>
        </p:txBody>
      </p:sp>
      <p:pic>
        <p:nvPicPr>
          <p:cNvPr id="6" name="Picture 5" descr="fig4_box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498079" cy="1971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36118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Boxing: 1 step (top) vs 3 steps (bottom) — the black player's motion is unpredictable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83879" y="1097280"/>
            <a:ext cx="3611880" cy="288036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234440"/>
            <a:ext cx="3246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497D"/>
                </a:solidFill>
                <a:latin typeface="Calibri"/>
              </a:rPr>
              <a:t>1 vs 3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691640"/>
            <a:ext cx="3246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▸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1 step = one denoising step: cheap, but the single-step predictor is the </a:t>
            </a:r>
            <a:r>
              <a:rPr sz="1300" b="0" i="1">
                <a:solidFill>
                  <a:srgbClr val="1A1A1A"/>
                </a:solidFill>
                <a:latin typeface="Calibri"/>
              </a:rPr>
              <a:t>expectation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 over possible next frames.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▸ </a:t>
            </a:r>
            <a:r>
              <a:rPr sz="1300" b="1" i="0">
                <a:solidFill>
                  <a:srgbClr val="1A1A1A"/>
                </a:solidFill>
                <a:latin typeface="Calibri"/>
              </a:rPr>
              <a:t>Partial observability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makes that distribution multimodal → the expectation is an out-of-distribution blur.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300" b="1">
                <a:solidFill>
                  <a:srgbClr val="ED7D31"/>
                </a:solidFill>
                <a:latin typeface="Calibri"/>
              </a:rPr>
              <a:t>▸ </a:t>
            </a:r>
            <a:r>
              <a:rPr sz="1300" b="1" i="0">
                <a:solidFill>
                  <a:srgbClr val="6A9B3C"/>
                </a:solidFill>
                <a:latin typeface="Calibri"/>
              </a:rPr>
              <a:t>3 iterative steps </a:t>
            </a:r>
            <a:r>
              <a:rPr sz="1300" b="0" i="0">
                <a:solidFill>
                  <a:srgbClr val="1A1A1A"/>
                </a:solidFill>
                <a:latin typeface="Calibri"/>
              </a:rPr>
              <a:t>drive sampling toward one specific mode → crisp, consistent frames.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11292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97D"/>
                </a:solidFill>
                <a:latin typeface="Calibri"/>
              </a:rPr>
              <a:t>Ablation: mean HNS on top-10 games drops from 3.05 (n = 3) to 1.96 (n = 1) — visual stability translates directly into agent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846320"/>
            <a:ext cx="112928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A1A"/>
                </a:solidFill>
                <a:latin typeface="Calibri"/>
              </a:rPr>
              <a:t>The tension: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each denoising step costs one full network forward pass; a world model must render thousands of frames per training episode. DIAMOND's trick is to be stable enough that 3 steps suffice — and it even samples at only </a:t>
            </a:r>
            <a:r>
              <a:rPr sz="1450" b="1" i="0">
                <a:solidFill>
                  <a:srgbClr val="1A1A1A"/>
                </a:solidFill>
                <a:latin typeface="Calibri"/>
              </a:rPr>
              <a:t>~10 FPS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 with 3 NFE per frame.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The Core Result: Consistent Videos, Game by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5 / 11</a:t>
            </a:r>
          </a:p>
        </p:txBody>
      </p:sp>
      <p:pic>
        <p:nvPicPr>
          <p:cNvPr id="6" name="Picture 5" descr="fig5_i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486400" cy="4457700"/>
          </a:xfrm>
          <a:prstGeom prst="rect">
            <a:avLst/>
          </a:prstGeom>
        </p:spPr>
      </p:pic>
      <p:pic>
        <p:nvPicPr>
          <p:cNvPr id="7" name="Picture 6" descr="fig5_diam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05840"/>
            <a:ext cx="5486400" cy="4447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4343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C0504D"/>
                </a:solidFill>
                <a:latin typeface="Calibri"/>
              </a:rPr>
              <a:t>IRIS (discrete tokens) — inconsistencies in white boxes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43434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6A9B3C"/>
                </a:solidFill>
                <a:latin typeface="Calibri"/>
              </a:rPr>
              <a:t>DIAMOND (diffusion) — the same details stay consistent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00600"/>
            <a:ext cx="11292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ED7D31"/>
                </a:solidFill>
                <a:latin typeface="Calibri"/>
              </a:rPr>
              <a:t>▸ </a:t>
            </a:r>
            <a:r>
              <a:rPr sz="1450" b="1" i="0">
                <a:solidFill>
                  <a:srgbClr val="C0504D"/>
                </a:solidFill>
                <a:latin typeface="Calibri"/>
              </a:rPr>
              <a:t>IRIS flickers: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an enemy becomes a reward and back (Asterix); bricks and score drift (Breakout); road rewards vanish (Road Runner). Just a few pixels — but the agent learns from exactly those pixels.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ED7D31"/>
                </a:solidFill>
                <a:latin typeface="Calibri"/>
              </a:rPr>
              <a:t>▸ </a:t>
            </a:r>
            <a:r>
              <a:rPr sz="1450" b="1" i="0">
                <a:solidFill>
                  <a:srgbClr val="6A9B3C"/>
                </a:solidFill>
                <a:latin typeface="Calibri"/>
              </a:rPr>
              <a:t>DIAMOND stays faithful: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same resolution (64×64), fewer parameters, and only 3 NFE/frame vs 16 for IRIS — the consistency is not bought with more compute.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450" b="1">
                <a:solidFill>
                  <a:srgbClr val="ED7D31"/>
                </a:solidFill>
                <a:latin typeface="Calibri"/>
              </a:rPr>
              <a:t>▸ </a:t>
            </a:r>
            <a:r>
              <a:rPr sz="1450" b="1" i="0">
                <a:solidFill>
                  <a:srgbClr val="1A1A1A"/>
                </a:solidFill>
                <a:latin typeface="Calibri"/>
              </a:rPr>
              <a:t>Consequence: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the agent targets rewards and avoids enemies more reliably → higher scores on precisely these games.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Atari 100k: A New Best Among World-Model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6 / 11</a:t>
            </a:r>
          </a:p>
        </p:txBody>
      </p:sp>
      <p:pic>
        <p:nvPicPr>
          <p:cNvPr id="6" name="Picture 5" descr="fig2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43000"/>
            <a:ext cx="5120640" cy="32169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11480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Human-normalized score (HNS), mean &amp; IQM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143000"/>
            <a:ext cx="5989320" cy="1417320"/>
          </a:xfrm>
          <a:prstGeom prst="rect">
            <a:avLst/>
          </a:prstGeom>
          <a:solidFill>
            <a:srgbClr val="1F497D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298448"/>
            <a:ext cx="55778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Mean HNS 1.46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superhuman on average — a new best among agents trained entirely inside a world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834640"/>
            <a:ext cx="56692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11 of 26 games superhuman (vs 10 for STORM/DreamerV3; 8 IRIS; 1 SimPLe).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IQM 0.64 — on par with STORM, above all other baselines.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Biggest wins where tiny details decide: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Asterix (3698 vs 1028 STORM), Breakout (132.5 vs 83.7 IRIS), Road Runner (20673).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400" b="1">
                <a:solidFill>
                  <a:srgbClr val="ED7D31"/>
                </a:solidFill>
                <a:latin typeface="Calibri"/>
              </a:rPr>
              <a:t>▸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Setup: 100k env steps (~2 h gameplay) per game, 5 seeds; ~2.9 days/run on one RTX 4090.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60350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497D"/>
                </a:solidFill>
                <a:latin typeface="Calibri"/>
              </a:rPr>
              <a:t>Take-away: 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with agent designs held similar, the score gap traces back to the world model's visual consistency.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Stability, Measured: Pixel Drift over 1000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7 / 11</a:t>
            </a:r>
          </a:p>
        </p:txBody>
      </p:sp>
      <p:pic>
        <p:nvPicPr>
          <p:cNvPr id="6" name="Picture 5" descr="fig8_dr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949440" cy="37387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80960" y="1097280"/>
            <a:ext cx="4114800" cy="310896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1234440"/>
            <a:ext cx="37490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497D"/>
                </a:solidFill>
                <a:latin typeface="Calibri"/>
              </a:rPr>
              <a:t>Quantifying compounding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9164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Calibri"/>
              </a:rPr>
              <a:t>▸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Breakout: 1000-step imagined rollouts from the same frame + same action sequence (400 expert refs).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Calibri"/>
              </a:rPr>
              <a:t>▸ </a:t>
            </a:r>
            <a:r>
              <a:rPr sz="1250" b="1" i="0">
                <a:solidFill>
                  <a:srgbClr val="1A1A1A"/>
                </a:solidFill>
                <a:latin typeface="Calibri"/>
              </a:rPr>
              <a:t>DDPM drifts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more and more; even 10 denoising steps stay worse than EDM with 1.</a:t>
            </a:r>
          </a:p>
          <a:p>
            <a:pPr>
              <a:lnSpc>
                <a:spcPct val="104000"/>
              </a:lnSpc>
              <a:spcAft>
                <a:spcPts val="500"/>
              </a:spcAft>
            </a:pPr>
            <a:r>
              <a:rPr sz="1250" b="1">
                <a:solidFill>
                  <a:srgbClr val="ED7D31"/>
                </a:solidFill>
                <a:latin typeface="Calibri"/>
              </a:rPr>
              <a:t>▸ </a:t>
            </a:r>
            <a:r>
              <a:rPr sz="1250" b="1" i="0">
                <a:solidFill>
                  <a:srgbClr val="1A1A1A"/>
                </a:solidFill>
                <a:latin typeface="Calibri"/>
              </a:rPr>
              <a:t>EDM's residual drift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is trajectory difference, not the pathological color shift seen in DDPM.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074920"/>
            <a:ext cx="11338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497D"/>
                </a:solidFill>
                <a:latin typeface="Calibri"/>
              </a:rPr>
              <a:t>Why this matters for the talk's theme: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"video consistency" is not aesthetics. In a world model, every generated frame is a training sample for the agent. Frame-to-frame inconsistency is label noise for policy learning — and it compounds with rollout length.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Scaling Up: An Interactive Neural Game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8 / 11</a:t>
            </a:r>
          </a:p>
        </p:txBody>
      </p:sp>
      <p:pic>
        <p:nvPicPr>
          <p:cNvPr id="6" name="Picture 5" descr="fig6_cs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6766560" cy="32167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794760"/>
            <a:ext cx="6766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Humans playing inside DIAMOND's diffusion world model (CS:GO)</a:t>
            </a:r>
          </a:p>
        </p:txBody>
      </p:sp>
      <p:sp>
        <p:nvSpPr>
          <p:cNvPr id="8" name="Rectangle 7"/>
          <p:cNvSpPr/>
          <p:nvPr/>
        </p:nvSpPr>
        <p:spPr>
          <a:xfrm>
            <a:off x="7452360" y="1051560"/>
            <a:ext cx="4343400" cy="3063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35240" y="1188720"/>
            <a:ext cx="39776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ED7D31"/>
                </a:solidFill>
                <a:latin typeface="Calibri"/>
              </a:rPr>
              <a:t>▸ </a:t>
            </a:r>
            <a:r>
              <a:rPr sz="1250" b="1" i="0">
                <a:solidFill>
                  <a:srgbClr val="1A1A1A"/>
                </a:solidFill>
                <a:latin typeface="Calibri"/>
              </a:rPr>
              <a:t>Trained only on static footage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— no RL, no engine: 150k frames of CS:GO (Dust II, 64×64) and 3.6 h of motorway driving.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ED7D31"/>
                </a:solidFill>
                <a:latin typeface="Calibri"/>
              </a:rPr>
              <a:t>▸ </a:t>
            </a:r>
            <a:r>
              <a:rPr sz="1250" b="1" i="0">
                <a:solidFill>
                  <a:srgbClr val="1A1A1A"/>
                </a:solidFill>
                <a:latin typeface="Calibri"/>
              </a:rPr>
              <a:t>People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played it live with keyboard &amp; mouse — stable over minutes of interactive rollout.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ED7D31"/>
                </a:solidFill>
                <a:latin typeface="Calibri"/>
              </a:rPr>
              <a:t>▸ </a:t>
            </a:r>
            <a:r>
              <a:rPr sz="1250" b="1" i="0">
                <a:solidFill>
                  <a:srgbClr val="6A9B3C"/>
                </a:solidFill>
                <a:latin typeface="Calibri"/>
              </a:rPr>
              <a:t>FVD 34.8 on CS:GO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vs 85.7 for IRIS (K = 64) and 509.1 for DreamerV3; LPIPS 0.107 vs 0.116 / 0.173.</a:t>
            </a:r>
          </a:p>
          <a:p>
            <a:pPr>
              <a:lnSpc>
                <a:spcPct val="104000"/>
              </a:lnSpc>
              <a:spcAft>
                <a:spcPts val="600"/>
              </a:spcAft>
            </a:pPr>
            <a:r>
              <a:rPr sz="1250" b="1">
                <a:solidFill>
                  <a:srgbClr val="ED7D31"/>
                </a:solidFill>
                <a:latin typeface="Calibri"/>
              </a:rPr>
              <a:t>▸ </a:t>
            </a:r>
            <a:r>
              <a:rPr sz="1250" b="1" i="0">
                <a:solidFill>
                  <a:srgbClr val="6A9B3C"/>
                </a:solidFill>
                <a:latin typeface="Calibri"/>
              </a:rPr>
              <a:t>Driving: FVD 80.3 </a:t>
            </a:r>
            <a:r>
              <a:rPr sz="1250" b="0" i="0">
                <a:solidFill>
                  <a:srgbClr val="1A1A1A"/>
                </a:solidFill>
                <a:latin typeface="Calibri"/>
              </a:rPr>
              <a:t>(IRIS 276.9, DreamerV3 733.7) — coherent, actionable video from real footage.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343400"/>
            <a:ext cx="11338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A1A1A"/>
                </a:solidFill>
                <a:latin typeface="Calibri"/>
              </a:rPr>
              <a:t>Same recipe, richer domain: </a:t>
            </a:r>
            <a:r>
              <a:rPr sz="1450" b="0" i="0">
                <a:solidFill>
                  <a:srgbClr val="1A1A1A"/>
                </a:solidFill>
                <a:latin typeface="Calibri"/>
              </a:rPr>
              <a:t>the same EDM diffusion world model generalizes from 2D arcade pixels to 3D first-person environments — a step toward world models as general video-consistent environment simulators.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Limitations and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9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64592" cy="8229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97280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97D"/>
                </a:solidFill>
                <a:latin typeface="Calibri"/>
              </a:rPr>
              <a:t>Resolution &amp; fidelity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097280"/>
            <a:ext cx="7909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64×64 images — far from real visual richness. Video consistency at scale is still open.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84832"/>
            <a:ext cx="164592" cy="8229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84832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97D"/>
                </a:solidFill>
                <a:latin typeface="Calibri"/>
              </a:rPr>
              <a:t>Sample efficiency of the model itself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84832"/>
            <a:ext cx="7909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The agent is sample-efficient; the diffusion world model is not. Training DIAMOND took ~1.03 GPU-years across the benchmark.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72384"/>
            <a:ext cx="164592" cy="8229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072384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97D"/>
                </a:solidFill>
                <a:latin typeface="Calibri"/>
              </a:rPr>
              <a:t>Speed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072384"/>
            <a:ext cx="7909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3 NFE/frame ≈ 10 FPS on Atari; interactive use required stochastic sampling &amp; more steps. Real-time, high-res diffusion world models remain costly.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059936"/>
            <a:ext cx="164592" cy="8229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59936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97D"/>
                </a:solidFill>
                <a:latin typeface="Calibri"/>
              </a:rPr>
              <a:t>Single-task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4059936"/>
            <a:ext cx="7909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One world model per game/environment — no cross-environment generalization or open-ended "one world" claim.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047488"/>
            <a:ext cx="164592" cy="82296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04748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F497D"/>
                </a:solidFill>
                <a:latin typeface="Calibri"/>
              </a:rPr>
              <a:t>Consistency ≠ physics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047488"/>
            <a:ext cx="7909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Rollouts are visually consistent; they are not physically grounded. Long-horizon drift still exists (Fig. 8) — an active research frontier.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3302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06070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 to 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74175" y="118872"/>
            <a:ext cx="26517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C9D6E8"/>
                </a:solidFill>
                <a:latin typeface="Calibri"/>
              </a:rPr>
              <a:t>10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66928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170432"/>
            <a:ext cx="4206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F497D"/>
                </a:solidFill>
                <a:latin typeface="Calibri"/>
              </a:rPr>
              <a:t>Consistency is the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170432"/>
            <a:ext cx="5943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Discrete-token world models lose few-pixel visual details; those details are exactly what the agent's reward signal depends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566928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49424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194560"/>
            <a:ext cx="4206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F497D"/>
                </a:solidFill>
                <a:latin typeface="Calibri"/>
              </a:rPr>
              <a:t>Diffusion fixes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194560"/>
            <a:ext cx="5943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A continuous diffusion world model (EDM) preserves visual details and stays stable over long rollouts — no quantization bottleneck.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36976"/>
            <a:ext cx="566928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73552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218688"/>
            <a:ext cx="4206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F497D"/>
                </a:solidFill>
                <a:latin typeface="Calibri"/>
              </a:rPr>
              <a:t>Consistency →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218688"/>
            <a:ext cx="5943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Mean HNS 1.46, superhuman on 11/26 Atari-100k games; the gains concentrate where visual detail matters.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61104"/>
            <a:ext cx="566928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242816"/>
            <a:ext cx="4206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F497D"/>
                </a:solidFill>
                <a:latin typeface="Calibri"/>
              </a:rPr>
              <a:t>It scales beyond games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4242816"/>
            <a:ext cx="5943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CS:GO FVD 34.8 and interactive human play; motorway driving FVD 80.3 — a general recipe for consistent video world models.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285232"/>
            <a:ext cx="566928" cy="566928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321808"/>
            <a:ext cx="56692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266944"/>
            <a:ext cx="4206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1F497D"/>
                </a:solidFill>
                <a:latin typeface="Calibri"/>
              </a:rPr>
              <a:t>Open frontier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5266944"/>
            <a:ext cx="5943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Resolution, speed, sample efficiency, physical grounding — world-model video consistency is still a live research area.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World Models and Video Consistency — DIAMOND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i="0">
                <a:solidFill>
                  <a:srgbClr val="C9D6E8"/>
                </a:solidFill>
                <a:latin typeface="Calibri"/>
              </a:rPr>
              <a:t>World Models and Video Consistency — DIAMOND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6048" y="3291840"/>
            <a:ext cx="2286000" cy="2794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601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D9E1EE"/>
                </a:solidFill>
                <a:latin typeface="Calibri"/>
              </a:rPr>
              <a:t>Paper: E. Alonso, A. Jelley, V. Micheli, A. Kanervisto, A. Storkey, T. Pearce, F. Fleuret.</a:t>
            </a:r>
          </a:p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D9E1EE"/>
                </a:solidFill>
                <a:latin typeface="Calibri"/>
              </a:rPr>
              <a:t>"Diffusion for World Modeling: Visual Details Matter in Atari." NeurIPS 2024. arXiv:2405.12399</a:t>
            </a:r>
          </a:p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D9E1EE"/>
                </a:solidFill>
                <a:latin typeface="Calibri"/>
              </a:rPr>
              <a:t>Project page &amp; playable world models: diamond-wm.github.io  ·  Code: github.com/eloialonso/diamond</a:t>
            </a:r>
          </a:p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8F9FB8"/>
                </a:solidFill>
                <a:latin typeface="Calibri"/>
              </a:rPr>
              <a:t>All figures reproduced from the paper (arXiv:2405.12399).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